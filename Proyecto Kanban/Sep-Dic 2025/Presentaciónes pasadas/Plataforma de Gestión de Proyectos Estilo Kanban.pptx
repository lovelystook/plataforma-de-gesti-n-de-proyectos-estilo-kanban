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62" r:id="rId6"/>
    <p:sldId id="272" r:id="rId7"/>
    <p:sldId id="273" r:id="rId8"/>
    <p:sldId id="274" r:id="rId9"/>
    <p:sldId id="275" r:id="rId10"/>
    <p:sldId id="276" r:id="rId11"/>
    <p:sldId id="277" r:id="rId12"/>
    <p:sldId id="263" r:id="rId13"/>
    <p:sldId id="264" r:id="rId14"/>
    <p:sldId id="269" r:id="rId15"/>
    <p:sldId id="270" r:id="rId16"/>
    <p:sldId id="271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35F2-5DB0-4259-8E2E-9C131389CC93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A6E7-8A96-4E3A-B913-E66E598D5131}" type="slidenum">
              <a:rPr lang="es-MX" smtClean="0"/>
              <a:t>‹Nº›</a:t>
            </a:fld>
            <a:endParaRPr lang="es-MX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349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35F2-5DB0-4259-8E2E-9C131389CC93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A6E7-8A96-4E3A-B913-E66E598D51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2568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35F2-5DB0-4259-8E2E-9C131389CC93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A6E7-8A96-4E3A-B913-E66E598D51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2064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35F2-5DB0-4259-8E2E-9C131389CC93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A6E7-8A96-4E3A-B913-E66E598D51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9326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35F2-5DB0-4259-8E2E-9C131389CC93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A6E7-8A96-4E3A-B913-E66E598D51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3161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35F2-5DB0-4259-8E2E-9C131389CC93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A6E7-8A96-4E3A-B913-E66E598D51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5268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35F2-5DB0-4259-8E2E-9C131389CC93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A6E7-8A96-4E3A-B913-E66E598D51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1295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35F2-5DB0-4259-8E2E-9C131389CC93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A6E7-8A96-4E3A-B913-E66E598D51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8423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35F2-5DB0-4259-8E2E-9C131389CC93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A6E7-8A96-4E3A-B913-E66E598D51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659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35F2-5DB0-4259-8E2E-9C131389CC93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A6E7-8A96-4E3A-B913-E66E598D51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6203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35F2-5DB0-4259-8E2E-9C131389CC93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A6E7-8A96-4E3A-B913-E66E598D51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5150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35F2-5DB0-4259-8E2E-9C131389CC93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A6E7-8A96-4E3A-B913-E66E598D5131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11336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35F2-5DB0-4259-8E2E-9C131389CC93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A6E7-8A96-4E3A-B913-E66E598D51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8387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35F2-5DB0-4259-8E2E-9C131389CC93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A6E7-8A96-4E3A-B913-E66E598D5131}" type="slidenum">
              <a:rPr lang="es-MX" smtClean="0"/>
              <a:t>‹Nº›</a:t>
            </a:fld>
            <a:endParaRPr lang="es-MX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711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35F2-5DB0-4259-8E2E-9C131389CC93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A6E7-8A96-4E3A-B913-E66E598D51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0629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35F2-5DB0-4259-8E2E-9C131389CC93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A6E7-8A96-4E3A-B913-E66E598D51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38246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35F2-5DB0-4259-8E2E-9C131389CC93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DA6E7-8A96-4E3A-B913-E66E598D51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5112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47935F2-5DB0-4259-8E2E-9C131389CC93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D9DA6E7-8A96-4E3A-B913-E66E598D51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10064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67A139-86EB-480F-AE6B-AF8092F21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E1EB84-77F6-94C3-66E5-ED0CF76B3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628617"/>
            <a:ext cx="5408613" cy="3028983"/>
          </a:xfrm>
        </p:spPr>
        <p:txBody>
          <a:bodyPr>
            <a:normAutofit/>
          </a:bodyPr>
          <a:lstStyle/>
          <a:p>
            <a:pPr algn="just"/>
            <a:r>
              <a:rPr lang="es-MX" dirty="0"/>
              <a:t>Plataforma de Gestión de Proyectos Estilo Kanban</a:t>
            </a:r>
          </a:p>
        </p:txBody>
      </p:sp>
      <p:sp>
        <p:nvSpPr>
          <p:cNvPr id="12" name="Snip Diagonal Corner Rectangle 6">
            <a:extLst>
              <a:ext uri="{FF2B5EF4-FFF2-40B4-BE49-F238E27FC236}">
                <a16:creationId xmlns:a16="http://schemas.microsoft.com/office/drawing/2014/main" id="{4E252378-AA68-427C-BF69-E4434E447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5136155" cy="5286838"/>
          </a:xfrm>
          <a:prstGeom prst="snip2DiagRect">
            <a:avLst>
              <a:gd name="adj1" fmla="val 9954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6BE890-4504-A004-667F-C02B53193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69" r="20922" b="2"/>
          <a:stretch>
            <a:fillRect/>
          </a:stretch>
        </p:blipFill>
        <p:spPr>
          <a:xfrm>
            <a:off x="797205" y="786117"/>
            <a:ext cx="4809744" cy="4956048"/>
          </a:xfrm>
          <a:custGeom>
            <a:avLst/>
            <a:gdLst/>
            <a:ahLst/>
            <a:cxnLst/>
            <a:rect l="l" t="t" r="r" b="b"/>
            <a:pathLst>
              <a:path w="4809744" h="4956048">
                <a:moveTo>
                  <a:pt x="478762" y="0"/>
                </a:moveTo>
                <a:lnTo>
                  <a:pt x="4809744" y="0"/>
                </a:lnTo>
                <a:lnTo>
                  <a:pt x="4809744" y="4477286"/>
                </a:lnTo>
                <a:lnTo>
                  <a:pt x="4330982" y="4956048"/>
                </a:lnTo>
                <a:lnTo>
                  <a:pt x="0" y="4956048"/>
                </a:lnTo>
                <a:lnTo>
                  <a:pt x="0" y="478762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5E8C853-59EA-4FCB-BB4E-1B0AEEA40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58D8A51-1FB2-4FA0-A860-D57179B52A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5C2F33D-5361-48D8-899D-50A713699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608EC6-04A0-4D53-B4C8-57F06AF14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9C42FEC-C8F1-465B-900B-C7F552326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4CDCA4C-0922-4330-AF15-394E8C6DD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4929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04A76D-A58A-7684-77D4-68B642026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pPr algn="just"/>
            <a:r>
              <a:rPr lang="es-MX" sz="4000" b="1" dirty="0">
                <a:solidFill>
                  <a:schemeClr val="tx2"/>
                </a:solidFill>
              </a:rPr>
              <a:t>Equipo y Roles</a:t>
            </a:r>
            <a:endParaRPr lang="es-MX" sz="4000" dirty="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F1DA04-360E-5B74-FFC1-973269A41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3615267"/>
          </a:xfrm>
        </p:spPr>
        <p:txBody>
          <a:bodyPr>
            <a:normAutofit/>
          </a:bodyPr>
          <a:lstStyle/>
          <a:p>
            <a:pPr algn="just"/>
            <a:r>
              <a:rPr lang="es-MX" b="1" dirty="0">
                <a:solidFill>
                  <a:schemeClr val="tx1"/>
                </a:solidFill>
              </a:rPr>
              <a:t>Víctor Manuel González Ruiz</a:t>
            </a:r>
            <a:r>
              <a:rPr lang="es-MX" dirty="0">
                <a:solidFill>
                  <a:schemeClr val="tx1"/>
                </a:solidFill>
              </a:rPr>
              <a:t> - Líder de proyecto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Ariadna Gutiérrez Escoto</a:t>
            </a:r>
            <a:r>
              <a:rPr lang="es-MX" dirty="0">
                <a:solidFill>
                  <a:schemeClr val="tx1"/>
                </a:solidFill>
              </a:rPr>
              <a:t> - Especialista en requerimientos y documentación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Adrián Hernández Segundo</a:t>
            </a:r>
            <a:r>
              <a:rPr lang="es-MX" dirty="0">
                <a:solidFill>
                  <a:schemeClr val="tx1"/>
                </a:solidFill>
              </a:rPr>
              <a:t> - Diseñador UX/UI y </a:t>
            </a:r>
            <a:r>
              <a:rPr lang="es-MX" dirty="0" err="1">
                <a:solidFill>
                  <a:schemeClr val="tx1"/>
                </a:solidFill>
              </a:rPr>
              <a:t>frontend</a:t>
            </a:r>
            <a:endParaRPr lang="es-MX" dirty="0">
              <a:solidFill>
                <a:schemeClr val="tx1"/>
              </a:solidFill>
            </a:endParaRP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Uriel Martínez Julián</a:t>
            </a:r>
            <a:r>
              <a:rPr lang="es-MX" dirty="0">
                <a:solidFill>
                  <a:schemeClr val="tx1"/>
                </a:solidFill>
              </a:rPr>
              <a:t> - Diseñador de interfaces y experiencia de usuario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David Hernández Jesús</a:t>
            </a:r>
            <a:r>
              <a:rPr lang="es-MX" dirty="0">
                <a:solidFill>
                  <a:schemeClr val="tx1"/>
                </a:solidFill>
              </a:rPr>
              <a:t> - Gestión financiera y análisis de costos</a:t>
            </a:r>
          </a:p>
        </p:txBody>
      </p:sp>
    </p:spTree>
    <p:extLst>
      <p:ext uri="{BB962C8B-B14F-4D97-AF65-F5344CB8AC3E}">
        <p14:creationId xmlns:p14="http://schemas.microsoft.com/office/powerpoint/2010/main" val="3431880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25CD4E-B143-9865-1EBD-D2CE99D29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3747111" cy="4892040"/>
          </a:xfrm>
        </p:spPr>
        <p:txBody>
          <a:bodyPr>
            <a:normAutofit/>
          </a:bodyPr>
          <a:lstStyle/>
          <a:p>
            <a:pPr algn="just"/>
            <a:r>
              <a:rPr lang="es-MX" b="1" dirty="0"/>
              <a:t>Entendiendo el Problema del Cliente</a:t>
            </a:r>
            <a:br>
              <a:rPr lang="es-MX" b="1" dirty="0"/>
            </a:br>
            <a:endParaRPr lang="es-MX" dirty="0"/>
          </a:p>
        </p:txBody>
      </p:sp>
      <p:cxnSp>
        <p:nvCxnSpPr>
          <p:cNvPr id="26" name="Straight Connector 16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783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3C4C4-FBA7-F8D2-AF00-48CB7B3DC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801" y="685799"/>
            <a:ext cx="6288260" cy="489204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MX" sz="3600" dirty="0">
                <a:solidFill>
                  <a:schemeClr val="tx1"/>
                </a:solidFill>
              </a:rPr>
              <a:t>Nuestro cliente enfrentaba varios desafíos críticos:</a:t>
            </a:r>
          </a:p>
          <a:p>
            <a:pPr marL="0" indent="0" algn="just">
              <a:buNone/>
            </a:pPr>
            <a:endParaRPr lang="es-MX" sz="3600" dirty="0">
              <a:solidFill>
                <a:schemeClr val="tx1"/>
              </a:solidFill>
            </a:endParaRP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Problema 1:</a:t>
            </a:r>
            <a:r>
              <a:rPr lang="es-MX" dirty="0">
                <a:solidFill>
                  <a:schemeClr val="tx1"/>
                </a:solidFill>
              </a:rPr>
              <a:t> Seguimiento desorganizado de envíos con métodos manuales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Problema 2:</a:t>
            </a:r>
            <a:r>
              <a:rPr lang="es-MX" dirty="0">
                <a:solidFill>
                  <a:schemeClr val="tx1"/>
                </a:solidFill>
              </a:rPr>
              <a:t> Falta de visibilidad en tiempo real del estado de los paquetes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Problema 3:</a:t>
            </a:r>
            <a:r>
              <a:rPr lang="es-MX" dirty="0">
                <a:solidFill>
                  <a:schemeClr val="tx1"/>
                </a:solidFill>
              </a:rPr>
              <a:t> Comunicación ineficiente entre coordinadores y repartidores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Problema 4:</a:t>
            </a:r>
            <a:r>
              <a:rPr lang="es-MX" dirty="0">
                <a:solidFill>
                  <a:schemeClr val="tx1"/>
                </a:solidFill>
              </a:rPr>
              <a:t> Dificultad para asignar y priorizar tareas operativas</a:t>
            </a:r>
          </a:p>
        </p:txBody>
      </p:sp>
    </p:spTree>
    <p:extLst>
      <p:ext uri="{BB962C8B-B14F-4D97-AF65-F5344CB8AC3E}">
        <p14:creationId xmlns:p14="http://schemas.microsoft.com/office/powerpoint/2010/main" val="3375351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CA6826-032C-4799-B079-15DB2A6CB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A110BF-E47C-9313-7DAC-22767CF7F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pPr algn="just"/>
            <a:r>
              <a:rPr lang="es-MX" b="1" dirty="0"/>
              <a:t>Solución Propuesta</a:t>
            </a:r>
            <a:endParaRPr lang="es-MX" dirty="0"/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D67F8B6A-83E2-6CC3-1045-3E4A9240A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7201259" cy="361526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b="1" dirty="0"/>
              <a:t>Nuestra solución: Una plataforma web Kanban especializada en logística que incluye:</a:t>
            </a:r>
          </a:p>
          <a:p>
            <a:pPr algn="just"/>
            <a:r>
              <a:rPr lang="es-MX" dirty="0"/>
              <a:t>✅ </a:t>
            </a:r>
            <a:r>
              <a:rPr lang="es-MX" b="1" dirty="0"/>
              <a:t>Tableros visuales</a:t>
            </a:r>
            <a:r>
              <a:rPr lang="es-MX" dirty="0"/>
              <a:t> con arrastrar y soltar</a:t>
            </a:r>
          </a:p>
          <a:p>
            <a:pPr algn="just"/>
            <a:r>
              <a:rPr lang="es-MX" dirty="0"/>
              <a:t>✅ </a:t>
            </a:r>
            <a:r>
              <a:rPr lang="es-MX" b="1" dirty="0"/>
              <a:t>Gestión de roles</a:t>
            </a:r>
            <a:r>
              <a:rPr lang="es-MX" dirty="0"/>
              <a:t> (</a:t>
            </a:r>
            <a:r>
              <a:rPr lang="es-MX" dirty="0" err="1"/>
              <a:t>Admin</a:t>
            </a:r>
            <a:r>
              <a:rPr lang="es-MX" dirty="0"/>
              <a:t>, Coordinador, Repartidor)</a:t>
            </a:r>
          </a:p>
          <a:p>
            <a:pPr algn="just"/>
            <a:r>
              <a:rPr lang="es-MX" dirty="0"/>
              <a:t>✅ </a:t>
            </a:r>
            <a:r>
              <a:rPr lang="es-MX" b="1" dirty="0"/>
              <a:t>Notificaciones en tiempo real</a:t>
            </a:r>
            <a:endParaRPr lang="es-MX" dirty="0"/>
          </a:p>
          <a:p>
            <a:pPr algn="just"/>
            <a:r>
              <a:rPr lang="es-MX" dirty="0"/>
              <a:t>✅ </a:t>
            </a:r>
            <a:r>
              <a:rPr lang="es-MX" b="1" dirty="0"/>
              <a:t>Chat interno contextual</a:t>
            </a:r>
            <a:endParaRPr lang="es-MX" dirty="0"/>
          </a:p>
          <a:p>
            <a:pPr algn="just"/>
            <a:r>
              <a:rPr lang="es-MX" dirty="0"/>
              <a:t>✅ </a:t>
            </a:r>
            <a:r>
              <a:rPr lang="es-MX" b="1" dirty="0"/>
              <a:t>Historial completo de movimientos</a:t>
            </a:r>
            <a:endParaRPr lang="es-MX" dirty="0"/>
          </a:p>
          <a:p>
            <a:pPr algn="just"/>
            <a:r>
              <a:rPr lang="es-MX" dirty="0"/>
              <a:t>✅ </a:t>
            </a:r>
            <a:r>
              <a:rPr lang="es-MX" b="1" dirty="0"/>
              <a:t>Sincronización </a:t>
            </a:r>
            <a:r>
              <a:rPr lang="es-MX" b="1" dirty="0" err="1"/>
              <a:t>multi-usuario</a:t>
            </a:r>
            <a:r>
              <a:rPr lang="es-MX" b="1" dirty="0"/>
              <a:t> instantánea</a:t>
            </a:r>
            <a:endParaRPr lang="es-MX" dirty="0"/>
          </a:p>
          <a:p>
            <a:endParaRPr lang="es-MX" dirty="0"/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407A8871-07AC-6D1E-612E-41AFDBEA1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9504" y="1054101"/>
            <a:ext cx="3185108" cy="3185108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D58A807-BD0E-4B1D-A523-2F20E7FE2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21" name="Straight Connector 12">
              <a:extLst>
                <a:ext uri="{FF2B5EF4-FFF2-40B4-BE49-F238E27FC236}">
                  <a16:creationId xmlns:a16="http://schemas.microsoft.com/office/drawing/2014/main" id="{AC82FD88-0436-4D5C-B5A2-7B9019194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2706DBD-9DBD-49D6-80EB-C896096D2F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51C7442-3F0F-49E3-9389-D6B4BAE14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A614368-43A5-4794-BA71-09F8585F9F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F42B96B-0C70-40CB-A027-175F2A16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6533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2DA6A-C38F-76B9-B03C-EAB41795A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9" y="0"/>
            <a:ext cx="8534400" cy="1507067"/>
          </a:xfrm>
        </p:spPr>
        <p:txBody>
          <a:bodyPr/>
          <a:lstStyle/>
          <a:p>
            <a:pPr algn="ctr"/>
            <a:r>
              <a:rPr lang="es-MX" b="1" dirty="0"/>
              <a:t>Demostración del Sistema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0BBDEC2-AA69-AEF4-4BEE-47D2E3E74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283" y="1641486"/>
            <a:ext cx="9857433" cy="484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297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B90296-CFE0-401D-9CA3-32966EC4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C9B4EE-7611-4ED9-B356-7BDD377C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4F266A-F2F7-47CD-8BBC-E3777E982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D69C80-8919-4A32-B897-F2A21F940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27B072-CC5B-481B-9719-8CD4C5444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609862E-48F9-45AC-8D44-67A0268A7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" y="2"/>
            <a:ext cx="121920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Snip Diagonal Corner Rectangle 6">
            <a:extLst>
              <a:ext uri="{FF2B5EF4-FFF2-40B4-BE49-F238E27FC236}">
                <a16:creationId xmlns:a16="http://schemas.microsoft.com/office/drawing/2014/main" id="{2D5EEA8B-2D86-4D1D-96B3-6B8290303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snip2DiagRect">
            <a:avLst>
              <a:gd name="adj1" fmla="val 0"/>
              <a:gd name="adj2" fmla="val 37605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80D16E9-6AD1-FEBF-9759-586389323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33" y="203479"/>
            <a:ext cx="9945062" cy="642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800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D9A179A-E9CC-C5DA-509F-0362C53D74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37" y="635558"/>
            <a:ext cx="11010325" cy="5373356"/>
          </a:xfrm>
        </p:spPr>
      </p:pic>
    </p:spTree>
    <p:extLst>
      <p:ext uri="{BB962C8B-B14F-4D97-AF65-F5344CB8AC3E}">
        <p14:creationId xmlns:p14="http://schemas.microsoft.com/office/powerpoint/2010/main" val="640634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3C52921-D776-3375-1B87-49F94EAC73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75" y="536331"/>
            <a:ext cx="10982849" cy="5785338"/>
          </a:xfrm>
        </p:spPr>
      </p:pic>
    </p:spTree>
    <p:extLst>
      <p:ext uri="{BB962C8B-B14F-4D97-AF65-F5344CB8AC3E}">
        <p14:creationId xmlns:p14="http://schemas.microsoft.com/office/powerpoint/2010/main" val="1443728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31545A1-273C-06CF-45DD-47D5BD7B14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736" y="596621"/>
            <a:ext cx="10500527" cy="5664758"/>
          </a:xfrm>
        </p:spPr>
      </p:pic>
    </p:spTree>
    <p:extLst>
      <p:ext uri="{BB962C8B-B14F-4D97-AF65-F5344CB8AC3E}">
        <p14:creationId xmlns:p14="http://schemas.microsoft.com/office/powerpoint/2010/main" val="487624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111FCDA-20E1-1555-AACA-1E0E71457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91" y="435847"/>
            <a:ext cx="10375217" cy="5986305"/>
          </a:xfrm>
        </p:spPr>
      </p:pic>
    </p:spTree>
    <p:extLst>
      <p:ext uri="{BB962C8B-B14F-4D97-AF65-F5344CB8AC3E}">
        <p14:creationId xmlns:p14="http://schemas.microsoft.com/office/powerpoint/2010/main" val="712086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A254FD7-7047-CB8A-C016-914D4BF52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79" y="491741"/>
            <a:ext cx="10916642" cy="5874518"/>
          </a:xfrm>
        </p:spPr>
      </p:pic>
    </p:spTree>
    <p:extLst>
      <p:ext uri="{BB962C8B-B14F-4D97-AF65-F5344CB8AC3E}">
        <p14:creationId xmlns:p14="http://schemas.microsoft.com/office/powerpoint/2010/main" val="2608360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0EFC15-BDD2-7F7A-C0A4-9B404309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3747111" cy="4892040"/>
          </a:xfrm>
        </p:spPr>
        <p:txBody>
          <a:bodyPr>
            <a:normAutofit/>
          </a:bodyPr>
          <a:lstStyle/>
          <a:p>
            <a:pPr algn="just"/>
            <a:r>
              <a:rPr lang="es-MX" b="1" dirty="0"/>
              <a:t>Innovación Técnica</a:t>
            </a:r>
            <a:endParaRPr lang="es-MX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783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1D7772-67D4-DEAE-7260-A57CC8C03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962" y="685799"/>
            <a:ext cx="6288260" cy="489204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b="1" dirty="0">
                <a:solidFill>
                  <a:schemeClr val="tx1"/>
                </a:solidFill>
              </a:rPr>
              <a:t>Lo que hace única nuestra solución: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🔄 Sistema de concurrencia</a:t>
            </a:r>
            <a:r>
              <a:rPr lang="es-MX" dirty="0">
                <a:solidFill>
                  <a:schemeClr val="tx1"/>
                </a:solidFill>
              </a:rPr>
              <a:t> que evita conflictos con múltiples usuarios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⚡ Tecnología </a:t>
            </a:r>
            <a:r>
              <a:rPr lang="es-MX" b="1" dirty="0" err="1">
                <a:solidFill>
                  <a:schemeClr val="tx1"/>
                </a:solidFill>
              </a:rPr>
              <a:t>WebSockets</a:t>
            </a:r>
            <a:r>
              <a:rPr lang="es-MX" dirty="0">
                <a:solidFill>
                  <a:schemeClr val="tx1"/>
                </a:solidFill>
              </a:rPr>
              <a:t> para actualizaciones en milisegundos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🎯 Diseño responsivo</a:t>
            </a:r>
            <a:r>
              <a:rPr lang="es-MX" dirty="0">
                <a:solidFill>
                  <a:schemeClr val="tx1"/>
                </a:solidFill>
              </a:rPr>
              <a:t> que funciona en desktop y móvil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🔒 Arquitectura escalable</a:t>
            </a:r>
            <a:r>
              <a:rPr lang="es-MX" dirty="0">
                <a:solidFill>
                  <a:schemeClr val="tx1"/>
                </a:solidFill>
              </a:rPr>
              <a:t> para crecimiento futuro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📊 Integración preparada</a:t>
            </a:r>
            <a:r>
              <a:rPr lang="es-MX" dirty="0">
                <a:solidFill>
                  <a:schemeClr val="tx1"/>
                </a:solidFill>
              </a:rPr>
              <a:t> para GPS y sistemas de tracking</a:t>
            </a:r>
          </a:p>
          <a:p>
            <a:endParaRPr lang="es-MX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110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512F9CB-A1A0-4043-A103-F6A4B94B6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DBE6588-EE16-4389-857C-86A156D49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7FD48D2-B0A7-413D-B947-AA55AC129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BE668D0-D906-4EEE-B32F-8C028624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1DE67A3-B8F6-4CFD-A8E0-D15200F23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991E317B-75E3-4171-A07A-B263C1D6D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8EFD47-1829-0143-47F4-045E20B1D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0" y="628617"/>
            <a:ext cx="3971902" cy="302898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just"/>
            <a:r>
              <a:rPr lang="en-US" sz="4400" b="1" dirty="0" err="1">
                <a:solidFill>
                  <a:srgbClr val="FFFFFF"/>
                </a:solidFill>
              </a:rPr>
              <a:t>Presupuesto</a:t>
            </a:r>
            <a:r>
              <a:rPr lang="en-US" sz="4400" b="1" dirty="0">
                <a:solidFill>
                  <a:srgbClr val="FFFFFF"/>
                </a:solidFill>
              </a:rPr>
              <a:t> </a:t>
            </a:r>
            <a:r>
              <a:rPr lang="en-US" sz="4400" b="1" dirty="0" err="1">
                <a:solidFill>
                  <a:srgbClr val="FFFFFF"/>
                </a:solidFill>
              </a:rPr>
              <a:t>Detallado</a:t>
            </a: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6BA9BF6-611F-88BE-004C-988727FC0B42}"/>
              </a:ext>
            </a:extLst>
          </p:cNvPr>
          <p:cNvSpPr txBox="1"/>
          <p:nvPr/>
        </p:nvSpPr>
        <p:spPr>
          <a:xfrm>
            <a:off x="7532709" y="3843868"/>
            <a:ext cx="2827315" cy="15647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100" b="1" dirty="0" err="1">
                <a:solidFill>
                  <a:srgbClr val="0F496F"/>
                </a:solidFill>
              </a:rPr>
              <a:t>Inversión</a:t>
            </a:r>
            <a:r>
              <a:rPr lang="en-US" sz="2100" b="1" dirty="0">
                <a:solidFill>
                  <a:srgbClr val="0F496F"/>
                </a:solidFill>
              </a:rPr>
              <a:t> </a:t>
            </a:r>
            <a:r>
              <a:rPr lang="en-US" sz="2100" b="1" dirty="0" err="1">
                <a:solidFill>
                  <a:srgbClr val="0F496F"/>
                </a:solidFill>
              </a:rPr>
              <a:t>en</a:t>
            </a:r>
            <a:r>
              <a:rPr lang="en-US" sz="2100" b="1" dirty="0">
                <a:solidFill>
                  <a:srgbClr val="0F496F"/>
                </a:solidFill>
              </a:rPr>
              <a:t> Desarrollo - $540,000 MXN (60%)</a:t>
            </a:r>
          </a:p>
        </p:txBody>
      </p:sp>
      <p:sp useBgFill="1">
        <p:nvSpPr>
          <p:cNvPr id="66" name="Snip Diagonal Corner Rectangle 6">
            <a:extLst>
              <a:ext uri="{FF2B5EF4-FFF2-40B4-BE49-F238E27FC236}">
                <a16:creationId xmlns:a16="http://schemas.microsoft.com/office/drawing/2014/main" id="{4A9B19C2-B29A-4924-9E7E-6FBF17F58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6418778" cy="5286838"/>
          </a:xfrm>
          <a:prstGeom prst="snip2DiagRect">
            <a:avLst>
              <a:gd name="adj1" fmla="val 10973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4C85634-D5F5-4047-8F35-F4B1F50AB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224BF71-948F-411D-AA79-8B2315715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34B4526-E715-4199-A597-CD757CB4A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5E295A6-48D5-4F9E-A32C-5D87EAA5E7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10BF5B3-9260-4D36-BB24-07BC414B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AE0C886-FA2E-4E7C-BC00-8397AAEC86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A9707106-8D59-3351-C5B5-3EC0ECF738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7136182"/>
              </p:ext>
            </p:extLst>
          </p:nvPr>
        </p:nvGraphicFramePr>
        <p:xfrm>
          <a:off x="1144951" y="1097060"/>
          <a:ext cx="5362971" cy="4334168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1653116">
                  <a:extLst>
                    <a:ext uri="{9D8B030D-6E8A-4147-A177-3AD203B41FA5}">
                      <a16:colId xmlns:a16="http://schemas.microsoft.com/office/drawing/2014/main" val="2066350848"/>
                    </a:ext>
                  </a:extLst>
                </a:gridCol>
                <a:gridCol w="2410143">
                  <a:extLst>
                    <a:ext uri="{9D8B030D-6E8A-4147-A177-3AD203B41FA5}">
                      <a16:colId xmlns:a16="http://schemas.microsoft.com/office/drawing/2014/main" val="1273638888"/>
                    </a:ext>
                  </a:extLst>
                </a:gridCol>
                <a:gridCol w="1299712">
                  <a:extLst>
                    <a:ext uri="{9D8B030D-6E8A-4147-A177-3AD203B41FA5}">
                      <a16:colId xmlns:a16="http://schemas.microsoft.com/office/drawing/2014/main" val="1180452552"/>
                    </a:ext>
                  </a:extLst>
                </a:gridCol>
              </a:tblGrid>
              <a:tr h="42341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MX" sz="13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Concepto</a:t>
                      </a:r>
                    </a:p>
                  </a:txBody>
                  <a:tcPr marL="112508" marR="88034" marT="86545" marB="8654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MX" sz="13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Detalle</a:t>
                      </a:r>
                    </a:p>
                  </a:txBody>
                  <a:tcPr marL="112508" marR="88034" marT="86545" marB="8654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MX" sz="13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Costo</a:t>
                      </a:r>
                    </a:p>
                  </a:txBody>
                  <a:tcPr marL="112508" marR="88034" marT="86545" marB="8654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13864"/>
                  </a:ext>
                </a:extLst>
              </a:tr>
              <a:tr h="651793"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es-MX" sz="1300" b="1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Análisis y Levantamiento</a:t>
                      </a:r>
                      <a:endParaRPr lang="es-MX" sz="1300" b="0" cap="none" spc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12508" marR="88034" marT="86545" marB="8654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es-MX" sz="13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Definición de requerimientos y planificación</a:t>
                      </a:r>
                    </a:p>
                  </a:txBody>
                  <a:tcPr marL="112508" marR="88034" marT="86545" marB="8654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$60,000 MXN</a:t>
                      </a:r>
                    </a:p>
                  </a:txBody>
                  <a:tcPr marL="112508" marR="66025" marT="86545" marB="8654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292195"/>
                  </a:ext>
                </a:extLst>
              </a:tr>
              <a:tr h="651793"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es-MX" sz="1300" b="1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Diseño UI/UX</a:t>
                      </a:r>
                      <a:endParaRPr lang="es-MX" sz="1300" b="0" cap="none" spc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12508" marR="88034" marT="86545" marB="8654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es-MX" sz="13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Prototipos, experiencia de usuario e interfaces</a:t>
                      </a:r>
                    </a:p>
                  </a:txBody>
                  <a:tcPr marL="112508" marR="88034" marT="86545" marB="8654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$90,000 MXN</a:t>
                      </a:r>
                    </a:p>
                  </a:txBody>
                  <a:tcPr marL="112508" marR="66025" marT="86545" marB="8654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414115"/>
                  </a:ext>
                </a:extLst>
              </a:tr>
              <a:tr h="65179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3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Desarrollo Backend</a:t>
                      </a:r>
                      <a:endParaRPr lang="es-MX" sz="13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12508" marR="88034" marT="86545" marB="8654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Lógica de negocio, API y base de datos</a:t>
                      </a:r>
                    </a:p>
                  </a:txBody>
                  <a:tcPr marL="112508" marR="88034" marT="86545" marB="8654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$150,000 MXN</a:t>
                      </a:r>
                    </a:p>
                  </a:txBody>
                  <a:tcPr marL="112508" marR="66025" marT="86545" marB="8654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713464"/>
                  </a:ext>
                </a:extLst>
              </a:tr>
              <a:tr h="65179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3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Desarrollo Frontend</a:t>
                      </a:r>
                      <a:endParaRPr lang="es-MX" sz="13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12508" marR="88034" marT="86545" marB="8654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Interfaz web responsive y componentes</a:t>
                      </a:r>
                    </a:p>
                  </a:txBody>
                  <a:tcPr marL="112508" marR="88034" marT="86545" marB="8654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$120,000 MXN</a:t>
                      </a:r>
                    </a:p>
                  </a:txBody>
                  <a:tcPr marL="112508" marR="66025" marT="86545" marB="8654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284930"/>
                  </a:ext>
                </a:extLst>
              </a:tr>
              <a:tr h="65179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3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Integraciones y BD</a:t>
                      </a:r>
                      <a:endParaRPr lang="es-MX" sz="13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12508" marR="88034" marT="86545" marB="8654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Conexión con sistemas y estructura de datos</a:t>
                      </a:r>
                    </a:p>
                  </a:txBody>
                  <a:tcPr marL="112508" marR="88034" marT="86545" marB="8654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$60,000 MXN</a:t>
                      </a:r>
                    </a:p>
                  </a:txBody>
                  <a:tcPr marL="112508" marR="66025" marT="86545" marB="8654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452870"/>
                  </a:ext>
                </a:extLst>
              </a:tr>
              <a:tr h="65179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3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Pruebas (QA/Testing)</a:t>
                      </a:r>
                      <a:endParaRPr lang="es-MX" sz="13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12508" marR="88034" marT="86545" marB="8654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Garantía de calidad y validación</a:t>
                      </a:r>
                    </a:p>
                  </a:txBody>
                  <a:tcPr marL="112508" marR="88034" marT="86545" marB="8654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3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$60,000 MXN</a:t>
                      </a:r>
                    </a:p>
                  </a:txBody>
                  <a:tcPr marL="112508" marR="66025" marT="86545" marB="8654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934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3042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512F9CB-A1A0-4043-A103-F6A4B94B6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DBE6588-EE16-4389-857C-86A156D49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7FD48D2-B0A7-413D-B947-AA55AC129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BE668D0-D906-4EEE-B32F-8C028624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1DE67A3-B8F6-4CFD-A8E0-D15200F23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991E317B-75E3-4171-A07A-B263C1D6D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ABCC0A-349D-A501-95B9-2E72BC61B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0" y="628617"/>
            <a:ext cx="3971902" cy="302898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just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kumimoji="0" lang="en-US" altLang="es-MX" sz="3400" b="1" i="0" u="none" strike="noStrike" normalizeH="0" baseline="0" dirty="0" err="1">
                <a:solidFill>
                  <a:srgbClr val="FFFFFF"/>
                </a:solidFill>
              </a:rPr>
              <a:t>Infraestructura</a:t>
            </a:r>
            <a:r>
              <a:rPr kumimoji="0" lang="en-US" altLang="es-MX" sz="3400" b="1" i="0" u="none" strike="noStrike" normalizeH="0" baseline="0" dirty="0">
                <a:solidFill>
                  <a:srgbClr val="FFFFFF"/>
                </a:solidFill>
              </a:rPr>
              <a:t> y Hosting - $135,000 MXN (15%)</a:t>
            </a:r>
          </a:p>
          <a:p>
            <a:pPr marL="0" marR="0" lvl="0" indent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endParaRPr kumimoji="0" lang="en-US" altLang="es-MX" sz="3400" b="0" i="0" u="none" strike="noStrike" normalizeH="0" baseline="0" dirty="0">
              <a:solidFill>
                <a:srgbClr val="FFFFFF"/>
              </a:solidFill>
            </a:endParaRPr>
          </a:p>
        </p:txBody>
      </p:sp>
      <p:sp useBgFill="1">
        <p:nvSpPr>
          <p:cNvPr id="51" name="Snip Diagonal Corner Rectangle 6">
            <a:extLst>
              <a:ext uri="{FF2B5EF4-FFF2-40B4-BE49-F238E27FC236}">
                <a16:creationId xmlns:a16="http://schemas.microsoft.com/office/drawing/2014/main" id="{4A9B19C2-B29A-4924-9E7E-6FBF17F58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6418778" cy="5286838"/>
          </a:xfrm>
          <a:prstGeom prst="snip2DiagRect">
            <a:avLst>
              <a:gd name="adj1" fmla="val 10973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4C85634-D5F5-4047-8F35-F4B1F50AB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224BF71-948F-411D-AA79-8B2315715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34B4526-E715-4199-A597-CD757CB4A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5E295A6-48D5-4F9E-A32C-5D87EAA5E7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10BF5B3-9260-4D36-BB24-07BC414B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AE0C886-FA2E-4E7C-BC00-8397AAEC86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Marcador de contenido 8">
            <a:extLst>
              <a:ext uri="{FF2B5EF4-FFF2-40B4-BE49-F238E27FC236}">
                <a16:creationId xmlns:a16="http://schemas.microsoft.com/office/drawing/2014/main" id="{94267CBB-3DE1-480C-5286-2C820AB111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8556918"/>
              </p:ext>
            </p:extLst>
          </p:nvPr>
        </p:nvGraphicFramePr>
        <p:xfrm>
          <a:off x="1101217" y="1276620"/>
          <a:ext cx="5450438" cy="397504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85582">
                  <a:extLst>
                    <a:ext uri="{9D8B030D-6E8A-4147-A177-3AD203B41FA5}">
                      <a16:colId xmlns:a16="http://schemas.microsoft.com/office/drawing/2014/main" val="2506925663"/>
                    </a:ext>
                  </a:extLst>
                </a:gridCol>
                <a:gridCol w="1879274">
                  <a:extLst>
                    <a:ext uri="{9D8B030D-6E8A-4147-A177-3AD203B41FA5}">
                      <a16:colId xmlns:a16="http://schemas.microsoft.com/office/drawing/2014/main" val="908096878"/>
                    </a:ext>
                  </a:extLst>
                </a:gridCol>
                <a:gridCol w="1785582">
                  <a:extLst>
                    <a:ext uri="{9D8B030D-6E8A-4147-A177-3AD203B41FA5}">
                      <a16:colId xmlns:a16="http://schemas.microsoft.com/office/drawing/2014/main" val="1828193693"/>
                    </a:ext>
                  </a:extLst>
                </a:gridCol>
              </a:tblGrid>
              <a:tr h="41556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MX" sz="1700" b="0">
                          <a:effectLst/>
                        </a:rPr>
                        <a:t>Concepto</a:t>
                      </a:r>
                      <a:endParaRPr lang="es-MX" sz="1700" b="0">
                        <a:effectLst/>
                        <a:latin typeface="quote-cjk-patch"/>
                      </a:endParaRPr>
                    </a:p>
                  </a:txBody>
                  <a:tcPr marL="85480" marR="113973" marT="71233" marB="7123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MX" sz="1700" b="0">
                          <a:effectLst/>
                        </a:rPr>
                        <a:t>Período</a:t>
                      </a:r>
                      <a:endParaRPr lang="es-MX" sz="1700" b="0">
                        <a:effectLst/>
                        <a:latin typeface="quote-cjk-patch"/>
                      </a:endParaRPr>
                    </a:p>
                  </a:txBody>
                  <a:tcPr marL="113973" marR="113973" marT="71233" marB="7123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MX" sz="1700" b="0">
                          <a:effectLst/>
                        </a:rPr>
                        <a:t>Costo</a:t>
                      </a:r>
                      <a:endParaRPr lang="es-MX" sz="1700" b="0">
                        <a:effectLst/>
                        <a:latin typeface="quote-cjk-patch"/>
                      </a:endParaRPr>
                    </a:p>
                  </a:txBody>
                  <a:tcPr marL="113973" marR="113973" marT="71233" marB="71233" anchor="ctr"/>
                </a:tc>
                <a:extLst>
                  <a:ext uri="{0D108BD9-81ED-4DB2-BD59-A6C34878D82A}">
                    <a16:rowId xmlns:a16="http://schemas.microsoft.com/office/drawing/2014/main" val="777990253"/>
                  </a:ext>
                </a:extLst>
              </a:tr>
              <a:tr h="88987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700" b="1">
                          <a:effectLst/>
                        </a:rPr>
                        <a:t>Hosting en la Nube</a:t>
                      </a:r>
                      <a:endParaRPr lang="es-MX" sz="1700" b="0">
                        <a:effectLst/>
                        <a:latin typeface="quote-cjk-patch"/>
                      </a:endParaRPr>
                    </a:p>
                  </a:txBody>
                  <a:tcPr marL="85480" marR="113973" marT="71233" marB="712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700" b="0">
                          <a:effectLst/>
                        </a:rPr>
                        <a:t>Servidores empresariales (12 meses)</a:t>
                      </a:r>
                      <a:endParaRPr lang="es-MX" sz="1700" b="0">
                        <a:effectLst/>
                        <a:latin typeface="quote-cjk-patch"/>
                      </a:endParaRPr>
                    </a:p>
                  </a:txBody>
                  <a:tcPr marL="113973" marR="113973" marT="71233" marB="712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700" b="0">
                          <a:effectLst/>
                        </a:rPr>
                        <a:t>$100,000 MXN</a:t>
                      </a:r>
                      <a:endParaRPr lang="es-MX" sz="1700" b="0">
                        <a:effectLst/>
                        <a:latin typeface="quote-cjk-patch"/>
                      </a:endParaRPr>
                    </a:p>
                  </a:txBody>
                  <a:tcPr marL="113973" marR="85480" marT="71233" marB="71233" anchor="ctr"/>
                </a:tc>
                <a:extLst>
                  <a:ext uri="{0D108BD9-81ED-4DB2-BD59-A6C34878D82A}">
                    <a16:rowId xmlns:a16="http://schemas.microsoft.com/office/drawing/2014/main" val="2883746262"/>
                  </a:ext>
                </a:extLst>
              </a:tr>
              <a:tr h="88987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700" b="1">
                          <a:effectLst/>
                        </a:rPr>
                        <a:t>Dominio Web</a:t>
                      </a:r>
                      <a:endParaRPr lang="es-MX" sz="1700" b="0">
                        <a:effectLst/>
                        <a:latin typeface="quote-cjk-patch"/>
                      </a:endParaRPr>
                    </a:p>
                  </a:txBody>
                  <a:tcPr marL="85480" marR="113973" marT="71233" marB="712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700" b="0">
                          <a:effectLst/>
                        </a:rPr>
                        <a:t>Registro profesional (2 años)</a:t>
                      </a:r>
                      <a:endParaRPr lang="es-MX" sz="1700" b="0">
                        <a:effectLst/>
                        <a:latin typeface="quote-cjk-patch"/>
                      </a:endParaRPr>
                    </a:p>
                  </a:txBody>
                  <a:tcPr marL="113973" marR="113973" marT="71233" marB="712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700" b="0">
                          <a:effectLst/>
                        </a:rPr>
                        <a:t>$2,000 MXN</a:t>
                      </a:r>
                      <a:endParaRPr lang="es-MX" sz="1700" b="0">
                        <a:effectLst/>
                        <a:latin typeface="quote-cjk-patch"/>
                      </a:endParaRPr>
                    </a:p>
                  </a:txBody>
                  <a:tcPr marL="113973" marR="85480" marT="71233" marB="71233" anchor="ctr"/>
                </a:tc>
                <a:extLst>
                  <a:ext uri="{0D108BD9-81ED-4DB2-BD59-A6C34878D82A}">
                    <a16:rowId xmlns:a16="http://schemas.microsoft.com/office/drawing/2014/main" val="1031802786"/>
                  </a:ext>
                </a:extLst>
              </a:tr>
              <a:tr h="88987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700" b="1">
                          <a:effectLst/>
                        </a:rPr>
                        <a:t>Certificado SSL</a:t>
                      </a:r>
                      <a:endParaRPr lang="es-MX" sz="1700" b="0">
                        <a:effectLst/>
                        <a:latin typeface="quote-cjk-patch"/>
                      </a:endParaRPr>
                    </a:p>
                  </a:txBody>
                  <a:tcPr marL="85480" marR="113973" marT="71233" marB="712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700" b="0">
                          <a:effectLst/>
                        </a:rPr>
                        <a:t>Seguridad empresarial (2 años)</a:t>
                      </a:r>
                      <a:endParaRPr lang="es-MX" sz="1700" b="0">
                        <a:effectLst/>
                        <a:latin typeface="quote-cjk-patch"/>
                      </a:endParaRPr>
                    </a:p>
                  </a:txBody>
                  <a:tcPr marL="113973" marR="113973" marT="71233" marB="712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700" b="0">
                          <a:effectLst/>
                        </a:rPr>
                        <a:t>$8,000 MXN</a:t>
                      </a:r>
                      <a:endParaRPr lang="es-MX" sz="1700" b="0">
                        <a:effectLst/>
                        <a:latin typeface="quote-cjk-patch"/>
                      </a:endParaRPr>
                    </a:p>
                  </a:txBody>
                  <a:tcPr marL="113973" marR="85480" marT="71233" marB="71233" anchor="ctr"/>
                </a:tc>
                <a:extLst>
                  <a:ext uri="{0D108BD9-81ED-4DB2-BD59-A6C34878D82A}">
                    <a16:rowId xmlns:a16="http://schemas.microsoft.com/office/drawing/2014/main" val="1801963725"/>
                  </a:ext>
                </a:extLst>
              </a:tr>
              <a:tr h="88987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700" b="1">
                          <a:effectLst/>
                        </a:rPr>
                        <a:t>Administración</a:t>
                      </a:r>
                      <a:endParaRPr lang="es-MX" sz="1700" b="0">
                        <a:effectLst/>
                        <a:latin typeface="quote-cjk-patch"/>
                      </a:endParaRPr>
                    </a:p>
                  </a:txBody>
                  <a:tcPr marL="85480" marR="113973" marT="71233" marB="712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700" b="0">
                          <a:effectLst/>
                        </a:rPr>
                        <a:t>Gestión y monitoreo de servidores</a:t>
                      </a:r>
                      <a:endParaRPr lang="es-MX" sz="1700" b="0">
                        <a:effectLst/>
                        <a:latin typeface="quote-cjk-patch"/>
                      </a:endParaRPr>
                    </a:p>
                  </a:txBody>
                  <a:tcPr marL="113973" marR="113973" marT="71233" marB="712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MX" sz="1700" b="0">
                          <a:effectLst/>
                        </a:rPr>
                        <a:t>$25,000 MXN</a:t>
                      </a:r>
                      <a:endParaRPr lang="es-MX" sz="1700" b="0">
                        <a:effectLst/>
                        <a:latin typeface="quote-cjk-patch"/>
                      </a:endParaRPr>
                    </a:p>
                  </a:txBody>
                  <a:tcPr marL="113973" marR="85480" marT="71233" marB="71233" anchor="ctr"/>
                </a:tc>
                <a:extLst>
                  <a:ext uri="{0D108BD9-81ED-4DB2-BD59-A6C34878D82A}">
                    <a16:rowId xmlns:a16="http://schemas.microsoft.com/office/drawing/2014/main" val="1994017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104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24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AA171F-C20C-3DCD-A971-0BD56CA9F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just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kumimoji="0" lang="en-US" altLang="es-MX" sz="2400" b="1" i="0" u="none" strike="noStrike" normalizeH="0" baseline="0" dirty="0" err="1">
                <a:solidFill>
                  <a:srgbClr val="FFFFFF"/>
                </a:solidFill>
              </a:rPr>
              <a:t>Capacitación</a:t>
            </a:r>
            <a:r>
              <a:rPr kumimoji="0" lang="en-US" altLang="es-MX" sz="2400" b="1" i="0" u="none" strike="noStrike" normalizeH="0" baseline="0" dirty="0">
                <a:solidFill>
                  <a:srgbClr val="FFFFFF"/>
                </a:solidFill>
              </a:rPr>
              <a:t> y </a:t>
            </a:r>
            <a:r>
              <a:rPr kumimoji="0" lang="en-US" altLang="es-MX" sz="2400" b="1" i="0" u="none" strike="noStrike" normalizeH="0" baseline="0" dirty="0" err="1">
                <a:solidFill>
                  <a:srgbClr val="FFFFFF"/>
                </a:solidFill>
              </a:rPr>
              <a:t>Soporte</a:t>
            </a:r>
            <a:r>
              <a:rPr kumimoji="0" lang="en-US" altLang="es-MX" sz="2400" b="1" i="0" u="none" strike="noStrike" normalizeH="0" baseline="0" dirty="0">
                <a:solidFill>
                  <a:srgbClr val="FFFFFF"/>
                </a:solidFill>
              </a:rPr>
              <a:t> - $135,000 MXN (15%)</a:t>
            </a:r>
          </a:p>
          <a:p>
            <a:pPr marL="0" marR="0" lvl="0" indent="0" fontAlgn="base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endParaRPr kumimoji="0" lang="en-US" altLang="es-MX" sz="2400" b="0" i="0" u="none" strike="noStrike" normalizeH="0" baseline="0" dirty="0">
              <a:solidFill>
                <a:srgbClr val="FFFFFF"/>
              </a:solidFill>
            </a:endParaRPr>
          </a:p>
        </p:txBody>
      </p:sp>
      <p:sp useBgFill="1">
        <p:nvSpPr>
          <p:cNvPr id="37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17C7EB0-08B1-35A8-D1DA-B45CDA633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2710" y="1822449"/>
            <a:ext cx="3479419" cy="2922591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tabLst/>
            </a:pPr>
            <a:r>
              <a:rPr kumimoji="0" lang="en-US" altLang="es-MX" sz="2400" b="1" i="0" u="none" strike="noStrike" normalizeH="0" baseline="0" dirty="0" err="1">
                <a:ln>
                  <a:noFill/>
                </a:ln>
                <a:solidFill>
                  <a:srgbClr val="0F496F"/>
                </a:solidFill>
              </a:rPr>
              <a:t>Contingencia</a:t>
            </a:r>
            <a:r>
              <a:rPr kumimoji="0" lang="en-US" altLang="es-MX" sz="2400" b="1" i="0" u="none" strike="noStrike" normalizeH="0" baseline="0" dirty="0">
                <a:ln>
                  <a:noFill/>
                </a:ln>
                <a:solidFill>
                  <a:srgbClr val="0F496F"/>
                </a:solidFill>
              </a:rPr>
              <a:t> y </a:t>
            </a:r>
            <a:r>
              <a:rPr kumimoji="0" lang="en-US" altLang="es-MX" sz="2400" b="1" i="0" u="none" strike="noStrike" normalizeH="0" baseline="0" dirty="0" err="1">
                <a:ln>
                  <a:noFill/>
                </a:ln>
                <a:solidFill>
                  <a:srgbClr val="0F496F"/>
                </a:solidFill>
              </a:rPr>
              <a:t>Mejoras</a:t>
            </a:r>
            <a:r>
              <a:rPr kumimoji="0" lang="en-US" altLang="es-MX" sz="2400" b="1" i="0" u="none" strike="noStrike" normalizeH="0" baseline="0" dirty="0">
                <a:ln>
                  <a:noFill/>
                </a:ln>
                <a:solidFill>
                  <a:srgbClr val="0F496F"/>
                </a:solidFill>
              </a:rPr>
              <a:t> - $90,000 MXN (10%)</a:t>
            </a:r>
          </a:p>
          <a:p>
            <a:pPr marL="0" marR="0" lvl="0" indent="0" algn="just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tabLst/>
            </a:pPr>
            <a:r>
              <a:rPr kumimoji="0" lang="en-US" altLang="es-MX" sz="2400" b="0" i="0" u="none" strike="noStrike" normalizeH="0" baseline="0" dirty="0" err="1">
                <a:ln>
                  <a:noFill/>
                </a:ln>
                <a:solidFill>
                  <a:srgbClr val="0F496F"/>
                </a:solidFill>
              </a:rPr>
              <a:t>Reserva</a:t>
            </a:r>
            <a:r>
              <a:rPr kumimoji="0" lang="en-US" altLang="es-MX" sz="2400" b="0" i="0" u="none" strike="noStrike" normalizeH="0" baseline="0" dirty="0">
                <a:ln>
                  <a:noFill/>
                </a:ln>
                <a:solidFill>
                  <a:srgbClr val="0F496F"/>
                </a:solidFill>
              </a:rPr>
              <a:t> </a:t>
            </a:r>
            <a:r>
              <a:rPr kumimoji="0" lang="en-US" altLang="es-MX" sz="2400" b="0" i="0" u="none" strike="noStrike" normalizeH="0" baseline="0" dirty="0" err="1">
                <a:ln>
                  <a:noFill/>
                </a:ln>
                <a:solidFill>
                  <a:srgbClr val="0F496F"/>
                </a:solidFill>
              </a:rPr>
              <a:t>estratégica</a:t>
            </a:r>
            <a:r>
              <a:rPr kumimoji="0" lang="en-US" altLang="es-MX" sz="2400" b="0" i="0" u="none" strike="noStrike" normalizeH="0" baseline="0" dirty="0">
                <a:ln>
                  <a:noFill/>
                </a:ln>
                <a:solidFill>
                  <a:srgbClr val="0F496F"/>
                </a:solidFill>
              </a:rPr>
              <a:t> para </a:t>
            </a:r>
            <a:r>
              <a:rPr kumimoji="0" lang="en-US" altLang="es-MX" sz="2400" b="0" i="0" u="none" strike="noStrike" normalizeH="0" baseline="0" dirty="0" err="1">
                <a:ln>
                  <a:noFill/>
                </a:ln>
                <a:solidFill>
                  <a:srgbClr val="0F496F"/>
                </a:solidFill>
              </a:rPr>
              <a:t>ajustes</a:t>
            </a:r>
            <a:r>
              <a:rPr kumimoji="0" lang="en-US" altLang="es-MX" sz="2400" b="0" i="0" u="none" strike="noStrike" normalizeH="0" baseline="0" dirty="0">
                <a:ln>
                  <a:noFill/>
                </a:ln>
                <a:solidFill>
                  <a:srgbClr val="0F496F"/>
                </a:solidFill>
              </a:rPr>
              <a:t> y </a:t>
            </a:r>
            <a:r>
              <a:rPr kumimoji="0" lang="en-US" altLang="es-MX" sz="2400" b="0" i="0" u="none" strike="noStrike" normalizeH="0" baseline="0" dirty="0" err="1">
                <a:ln>
                  <a:noFill/>
                </a:ln>
                <a:solidFill>
                  <a:srgbClr val="0F496F"/>
                </a:solidFill>
              </a:rPr>
              <a:t>mejoras</a:t>
            </a:r>
            <a:r>
              <a:rPr kumimoji="0" lang="en-US" altLang="es-MX" sz="2400" b="0" i="0" u="none" strike="noStrike" normalizeH="0" baseline="0" dirty="0">
                <a:ln>
                  <a:noFill/>
                </a:ln>
                <a:solidFill>
                  <a:srgbClr val="0F496F"/>
                </a:solidFill>
              </a:rPr>
              <a:t> no </a:t>
            </a:r>
            <a:r>
              <a:rPr kumimoji="0" lang="en-US" altLang="es-MX" sz="2400" b="0" i="0" u="none" strike="noStrike" normalizeH="0" baseline="0" dirty="0" err="1">
                <a:ln>
                  <a:noFill/>
                </a:ln>
                <a:solidFill>
                  <a:srgbClr val="0F496F"/>
                </a:solidFill>
              </a:rPr>
              <a:t>previstas</a:t>
            </a:r>
            <a:endParaRPr kumimoji="0" lang="en-US" altLang="es-MX" sz="2400" b="0" i="0" u="none" strike="noStrike" normalizeH="0" baseline="0" dirty="0">
              <a:ln>
                <a:noFill/>
              </a:ln>
              <a:solidFill>
                <a:srgbClr val="0F496F"/>
              </a:solidFill>
            </a:endParaRPr>
          </a:p>
          <a:p>
            <a:pPr marL="0" marR="0" lvl="0" indent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tabLst/>
            </a:pPr>
            <a:endParaRPr kumimoji="0" lang="en-US" altLang="es-MX" sz="1200" b="0" i="0" u="none" strike="noStrike" normalizeH="0" baseline="0" dirty="0">
              <a:ln>
                <a:noFill/>
              </a:ln>
              <a:solidFill>
                <a:srgbClr val="0F496F"/>
              </a:solidFill>
            </a:endParaRPr>
          </a:p>
        </p:txBody>
      </p:sp>
      <p:grpSp>
        <p:nvGrpSpPr>
          <p:cNvPr id="38" name="Group 28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7CFF1C7-CFA2-2A28-50F7-05F7112CE6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2121262"/>
              </p:ext>
            </p:extLst>
          </p:nvPr>
        </p:nvGraphicFramePr>
        <p:xfrm>
          <a:off x="1101217" y="1338575"/>
          <a:ext cx="5641064" cy="385113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95017">
                  <a:extLst>
                    <a:ext uri="{9D8B030D-6E8A-4147-A177-3AD203B41FA5}">
                      <a16:colId xmlns:a16="http://schemas.microsoft.com/office/drawing/2014/main" val="906957820"/>
                    </a:ext>
                  </a:extLst>
                </a:gridCol>
                <a:gridCol w="2042971">
                  <a:extLst>
                    <a:ext uri="{9D8B030D-6E8A-4147-A177-3AD203B41FA5}">
                      <a16:colId xmlns:a16="http://schemas.microsoft.com/office/drawing/2014/main" val="802620077"/>
                    </a:ext>
                  </a:extLst>
                </a:gridCol>
                <a:gridCol w="1703076">
                  <a:extLst>
                    <a:ext uri="{9D8B030D-6E8A-4147-A177-3AD203B41FA5}">
                      <a16:colId xmlns:a16="http://schemas.microsoft.com/office/drawing/2014/main" val="2496386110"/>
                    </a:ext>
                  </a:extLst>
                </a:gridCol>
              </a:tblGrid>
              <a:tr h="590698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s-MX" sz="23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Concepto</a:t>
                      </a:r>
                      <a:endParaRPr lang="es-MX" sz="23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0329" marR="172747" marT="115164" marB="1151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s-MX" sz="23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Alcance</a:t>
                      </a:r>
                      <a:endParaRPr lang="es-MX" sz="23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0329" marR="172747" marT="115164" marB="1151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s-MX" sz="23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Costo</a:t>
                      </a:r>
                      <a:endParaRPr lang="es-MX" sz="23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0329" marR="172747" marT="115164" marB="1151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458260"/>
                  </a:ext>
                </a:extLst>
              </a:tr>
              <a:tr h="884208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s-MX" sz="16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Capacitación Inicial</a:t>
                      </a:r>
                      <a:endParaRPr lang="es-MX" sz="16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0329" marR="172747" marT="115164" marB="1151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s-MX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Entrenamiento a todo el equipo</a:t>
                      </a:r>
                      <a:endParaRPr lang="es-MX" sz="16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0329" marR="172747" marT="115164" marB="1151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s-MX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$30,000 MXN</a:t>
                      </a:r>
                      <a:endParaRPr lang="es-MX" sz="16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0329" marR="172747" marT="115164" marB="1151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091078"/>
                  </a:ext>
                </a:extLst>
              </a:tr>
              <a:tr h="1188114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s-MX" sz="16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Soporte Correctivo</a:t>
                      </a:r>
                      <a:endParaRPr lang="es-MX" sz="16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0329" marR="172747" marT="115164" marB="1151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s-MX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Resolución de incidencias (6 meses)</a:t>
                      </a:r>
                      <a:endParaRPr lang="es-MX" sz="16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0329" marR="172747" marT="115164" marB="1151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s-MX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$45,000 MXN</a:t>
                      </a:r>
                      <a:endParaRPr lang="es-MX" sz="16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0329" marR="172747" marT="115164" marB="1151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057548"/>
                  </a:ext>
                </a:extLst>
              </a:tr>
              <a:tr h="1188114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s-MX" sz="16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Mantenimiento Evolutivo</a:t>
                      </a:r>
                      <a:endParaRPr lang="es-MX" sz="16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0329" marR="172747" marT="115164" marB="1151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s-MX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Mejoras y actualizaciones (6 meses)</a:t>
                      </a:r>
                      <a:endParaRPr lang="es-MX" sz="16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0329" marR="172747" marT="115164" marB="1151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s-MX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$60,000 MXN</a:t>
                      </a:r>
                      <a:endParaRPr lang="es-MX" sz="16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30329" marR="172747" marT="115164" marB="11516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581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67425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AADDEB-6780-8987-533A-87345D829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3747111" cy="4892040"/>
          </a:xfrm>
        </p:spPr>
        <p:txBody>
          <a:bodyPr>
            <a:normAutofit/>
          </a:bodyPr>
          <a:lstStyle/>
          <a:p>
            <a:pPr algn="just"/>
            <a:r>
              <a:rPr lang="es-MX" b="1" dirty="0"/>
              <a:t>TOTAL DEL PROYECTO: $900,000 MXN</a:t>
            </a:r>
            <a:endParaRPr lang="es-MX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783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75ADF69C-3E66-3212-31D7-7F164DD0D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962" y="685799"/>
            <a:ext cx="6288260" cy="489204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es-MX" sz="1700" dirty="0">
                <a:solidFill>
                  <a:schemeClr val="tx1"/>
                </a:solidFill>
              </a:rPr>
              <a:t>🔹 </a:t>
            </a:r>
            <a:r>
              <a:rPr lang="es-MX" sz="1700" b="1" dirty="0">
                <a:solidFill>
                  <a:schemeClr val="tx1"/>
                </a:solidFill>
              </a:rPr>
              <a:t>Desarrollo Empresarial:</a:t>
            </a:r>
            <a:r>
              <a:rPr lang="es-MX" sz="1700" dirty="0">
                <a:solidFill>
                  <a:schemeClr val="tx1"/>
                </a:solidFill>
              </a:rPr>
              <a:t> Tarifas de mercado para profesionales especializados</a:t>
            </a:r>
            <a:br>
              <a:rPr lang="es-MX" sz="1700" dirty="0">
                <a:solidFill>
                  <a:schemeClr val="tx1"/>
                </a:solidFill>
              </a:rPr>
            </a:br>
            <a:r>
              <a:rPr lang="es-MX" sz="1700" dirty="0">
                <a:solidFill>
                  <a:schemeClr val="tx1"/>
                </a:solidFill>
              </a:rPr>
              <a:t>🔹 </a:t>
            </a:r>
            <a:r>
              <a:rPr lang="es-MX" sz="1700" b="1" dirty="0">
                <a:solidFill>
                  <a:schemeClr val="tx1"/>
                </a:solidFill>
              </a:rPr>
              <a:t>Infraestructura Robustez:</a:t>
            </a:r>
            <a:r>
              <a:rPr lang="es-MX" sz="1700" dirty="0">
                <a:solidFill>
                  <a:schemeClr val="tx1"/>
                </a:solidFill>
              </a:rPr>
              <a:t> Hosting de alta disponibilidad para operación crítica</a:t>
            </a:r>
            <a:br>
              <a:rPr lang="es-MX" sz="1700" dirty="0">
                <a:solidFill>
                  <a:schemeClr val="tx1"/>
                </a:solidFill>
              </a:rPr>
            </a:br>
            <a:r>
              <a:rPr lang="es-MX" sz="1700" dirty="0">
                <a:solidFill>
                  <a:schemeClr val="tx1"/>
                </a:solidFill>
              </a:rPr>
              <a:t>🔹 </a:t>
            </a:r>
            <a:r>
              <a:rPr lang="es-MX" sz="1700" b="1" dirty="0">
                <a:solidFill>
                  <a:schemeClr val="tx1"/>
                </a:solidFill>
              </a:rPr>
              <a:t>Soporte Integral:</a:t>
            </a:r>
            <a:r>
              <a:rPr lang="es-MX" sz="1700" dirty="0">
                <a:solidFill>
                  <a:schemeClr val="tx1"/>
                </a:solidFill>
              </a:rPr>
              <a:t> 6 meses de mantenimiento y capacitación incluidos</a:t>
            </a:r>
            <a:br>
              <a:rPr lang="es-MX" sz="1700" dirty="0">
                <a:solidFill>
                  <a:schemeClr val="tx1"/>
                </a:solidFill>
              </a:rPr>
            </a:br>
            <a:r>
              <a:rPr lang="es-MX" sz="1700" dirty="0">
                <a:solidFill>
                  <a:schemeClr val="tx1"/>
                </a:solidFill>
              </a:rPr>
              <a:t>🔹 </a:t>
            </a:r>
            <a:r>
              <a:rPr lang="es-MX" sz="1700" b="1" dirty="0">
                <a:solidFill>
                  <a:schemeClr val="tx1"/>
                </a:solidFill>
              </a:rPr>
              <a:t>Gestión de Riesgos:</a:t>
            </a:r>
            <a:r>
              <a:rPr lang="es-MX" sz="1700" dirty="0">
                <a:solidFill>
                  <a:schemeClr val="tx1"/>
                </a:solidFill>
              </a:rPr>
              <a:t> 10% de contingencia para imprevistos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s-MX" sz="1700" b="1" dirty="0">
                <a:solidFill>
                  <a:schemeClr val="tx1"/>
                </a:solidFill>
              </a:rPr>
              <a:t>"Forma de pago escalonada:</a:t>
            </a:r>
            <a:endParaRPr lang="es-MX" sz="1700" dirty="0">
              <a:solidFill>
                <a:schemeClr val="tx1"/>
              </a:solidFill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s-MX" sz="1700" b="1" dirty="0">
                <a:solidFill>
                  <a:schemeClr val="tx1"/>
                </a:solidFill>
              </a:rPr>
              <a:t>40% al inicio</a:t>
            </a:r>
            <a:r>
              <a:rPr lang="es-MX" sz="1700" dirty="0">
                <a:solidFill>
                  <a:schemeClr val="tx1"/>
                </a:solidFill>
              </a:rPr>
              <a:t> ($360,000 MXN) - Para arranque inmediato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s-MX" sz="1700" b="1" dirty="0">
                <a:solidFill>
                  <a:schemeClr val="tx1"/>
                </a:solidFill>
              </a:rPr>
              <a:t>30% en avance</a:t>
            </a:r>
            <a:r>
              <a:rPr lang="es-MX" sz="1700" dirty="0">
                <a:solidFill>
                  <a:schemeClr val="tx1"/>
                </a:solidFill>
              </a:rPr>
              <a:t> ($270,000 MXN) - Al entregar prototipo funcional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s-MX" sz="1700" b="1" dirty="0">
                <a:solidFill>
                  <a:schemeClr val="tx1"/>
                </a:solidFill>
              </a:rPr>
              <a:t>30% al final</a:t>
            </a:r>
            <a:r>
              <a:rPr lang="es-MX" sz="1700" dirty="0">
                <a:solidFill>
                  <a:schemeClr val="tx1"/>
                </a:solidFill>
              </a:rPr>
              <a:t> ($270,000 MXN) - Con la entrega completa"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s-MX" sz="1700" b="1" dirty="0">
              <a:solidFill>
                <a:schemeClr val="tx1"/>
              </a:solidFill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s-MX" sz="1700" b="1" dirty="0">
                <a:solidFill>
                  <a:schemeClr val="tx1"/>
                </a:solidFill>
              </a:rPr>
              <a:t>"Esta estructura garantiza un desarrollo de calidad empresarial con soporte a largo plazo."</a:t>
            </a:r>
            <a:endParaRPr lang="es-MX" sz="1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940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9ACA6826-032C-4799-B079-15DB2A6CB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1714AB-8935-B1E9-FB91-4C644881D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pPr algn="just"/>
            <a:r>
              <a:rPr lang="es-MX" b="1" dirty="0"/>
              <a:t>Valor Agregado y Retorno de inversión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16A7F3-6963-E658-B584-DD8DBAE33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7201259" cy="39464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800" dirty="0"/>
              <a:t>El retorno de inversión para nuestro cliente:</a:t>
            </a:r>
          </a:p>
          <a:p>
            <a:pPr algn="just"/>
            <a:r>
              <a:rPr lang="es-MX" dirty="0"/>
              <a:t>📈 </a:t>
            </a:r>
            <a:r>
              <a:rPr lang="es-MX" b="1" dirty="0"/>
              <a:t>30% aumento</a:t>
            </a:r>
            <a:r>
              <a:rPr lang="es-MX" dirty="0"/>
              <a:t> en eficiencia operativa</a:t>
            </a:r>
          </a:p>
          <a:p>
            <a:pPr algn="just"/>
            <a:r>
              <a:rPr lang="es-MX" dirty="0"/>
              <a:t>⏱️ </a:t>
            </a:r>
            <a:r>
              <a:rPr lang="es-MX" b="1" dirty="0"/>
              <a:t>50% reducción</a:t>
            </a:r>
            <a:r>
              <a:rPr lang="es-MX" dirty="0"/>
              <a:t> en tiempo de seguimiento</a:t>
            </a:r>
          </a:p>
          <a:p>
            <a:pPr algn="just"/>
            <a:r>
              <a:rPr lang="es-MX" dirty="0"/>
              <a:t>💰 </a:t>
            </a:r>
            <a:r>
              <a:rPr lang="es-MX" b="1" dirty="0"/>
              <a:t>$80,000 MXN anuales</a:t>
            </a:r>
            <a:r>
              <a:rPr lang="es-MX" dirty="0"/>
              <a:t> en ahorro por reducción de errores</a:t>
            </a:r>
          </a:p>
          <a:p>
            <a:pPr algn="just"/>
            <a:r>
              <a:rPr lang="es-MX" dirty="0"/>
              <a:t>🤝 </a:t>
            </a:r>
            <a:r>
              <a:rPr lang="es-MX" b="1" dirty="0"/>
              <a:t>Mejora significativa</a:t>
            </a:r>
            <a:r>
              <a:rPr lang="es-MX" dirty="0"/>
              <a:t> en satisfacción del cliente</a:t>
            </a:r>
          </a:p>
          <a:p>
            <a:pPr algn="just"/>
            <a:r>
              <a:rPr lang="es-MX" dirty="0"/>
              <a:t>📊 </a:t>
            </a:r>
            <a:r>
              <a:rPr lang="es-MX" b="1" dirty="0"/>
              <a:t>Toma de decisiones</a:t>
            </a:r>
            <a:r>
              <a:rPr lang="es-MX" dirty="0"/>
              <a:t> basada en datos en tiempo real</a:t>
            </a:r>
          </a:p>
        </p:txBody>
      </p:sp>
      <p:pic>
        <p:nvPicPr>
          <p:cNvPr id="7" name="Graphic 6" descr="Bar Graph with Upward Trend">
            <a:extLst>
              <a:ext uri="{FF2B5EF4-FFF2-40B4-BE49-F238E27FC236}">
                <a16:creationId xmlns:a16="http://schemas.microsoft.com/office/drawing/2014/main" id="{8EE6A204-7A7C-CD77-3320-572056225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9504" y="1054101"/>
            <a:ext cx="3185108" cy="3185108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D58A807-BD0E-4B1D-A523-2F20E7FE2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C82FD88-0436-4D5C-B5A2-7B9019194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2706DBD-9DBD-49D6-80EB-C896096D2F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51C7442-3F0F-49E3-9389-D6B4BAE14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A614368-43A5-4794-BA71-09F8585F9F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F42B96B-0C70-40CB-A027-175F2A16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4219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7509B08A-C1EC-478C-86AF-60ADE06D9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5158C6-8230-ACA8-63C4-3C7EC64CE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90" y="685800"/>
            <a:ext cx="4818656" cy="4603749"/>
          </a:xfrm>
        </p:spPr>
        <p:txBody>
          <a:bodyPr>
            <a:normAutofit/>
          </a:bodyPr>
          <a:lstStyle/>
          <a:p>
            <a:pPr algn="just"/>
            <a:r>
              <a:rPr lang="es-MX" sz="4000" b="1" dirty="0"/>
              <a:t>Plan de Implementación</a:t>
            </a:r>
            <a:endParaRPr lang="es-MX" sz="4000" dirty="0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221CC330-4259-4C32-BF8B-5FE13FFAB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chemeClr val="bg2">
              <a:alpha val="9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E7F351-39D6-75A0-F52A-3D540346D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5651" y="685800"/>
            <a:ext cx="4878959" cy="46037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3600" b="1" dirty="0">
                <a:solidFill>
                  <a:schemeClr val="tx1"/>
                </a:solidFill>
              </a:rPr>
              <a:t>Nuestro cronograma garantizado: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Semana 1-4:</a:t>
            </a:r>
            <a:r>
              <a:rPr lang="es-MX" dirty="0">
                <a:solidFill>
                  <a:schemeClr val="tx1"/>
                </a:solidFill>
              </a:rPr>
              <a:t> Desarrollo del “Producto Mínimo Viable” funcional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Semana 5-8:</a:t>
            </a:r>
            <a:r>
              <a:rPr lang="es-MX" dirty="0">
                <a:solidFill>
                  <a:schemeClr val="tx1"/>
                </a:solidFill>
              </a:rPr>
              <a:t> Integración y pruebas intensivas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Semana 9-10:</a:t>
            </a:r>
            <a:r>
              <a:rPr lang="es-MX" dirty="0">
                <a:solidFill>
                  <a:schemeClr val="tx1"/>
                </a:solidFill>
              </a:rPr>
              <a:t> Capacitación y despliegue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Semana 11-12:</a:t>
            </a:r>
            <a:r>
              <a:rPr lang="es-MX" dirty="0">
                <a:solidFill>
                  <a:schemeClr val="tx1"/>
                </a:solidFill>
              </a:rPr>
              <a:t> Soporte </a:t>
            </a:r>
            <a:r>
              <a:rPr lang="es-MX" dirty="0" err="1">
                <a:solidFill>
                  <a:schemeClr val="tx1"/>
                </a:solidFill>
              </a:rPr>
              <a:t>post-implementación</a:t>
            </a:r>
            <a:endParaRPr lang="es-MX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959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21863F-B337-439D-25D4-7063BE9BF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3747111" cy="4892040"/>
          </a:xfrm>
        </p:spPr>
        <p:txBody>
          <a:bodyPr>
            <a:normAutofit/>
          </a:bodyPr>
          <a:lstStyle/>
          <a:p>
            <a:pPr algn="just"/>
            <a:r>
              <a:rPr lang="es-MX" b="1" dirty="0"/>
              <a:t>Cierre y Siguientes Pasos</a:t>
            </a:r>
            <a:endParaRPr lang="es-MX" dirty="0"/>
          </a:p>
        </p:txBody>
      </p:sp>
      <p:cxnSp>
        <p:nvCxnSpPr>
          <p:cNvPr id="13" name="Straight Connector 9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783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0DB4F5-CD77-6BCE-3B93-6764F53FC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962" y="685798"/>
            <a:ext cx="6288260" cy="5323115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s-MX" sz="2600" b="1" dirty="0">
                <a:solidFill>
                  <a:schemeClr val="tx1"/>
                </a:solidFill>
              </a:rPr>
              <a:t>En resumen, hemos desarrollado una solución que</a:t>
            </a:r>
            <a:r>
              <a:rPr lang="es-MX" dirty="0">
                <a:solidFill>
                  <a:schemeClr val="tx1"/>
                </a:solidFill>
              </a:rPr>
              <a:t>:</a:t>
            </a:r>
          </a:p>
          <a:p>
            <a:pPr marL="0" indent="0" algn="just">
              <a:buNone/>
            </a:pPr>
            <a:r>
              <a:rPr lang="es-MX" dirty="0">
                <a:solidFill>
                  <a:schemeClr val="tx1"/>
                </a:solidFill>
              </a:rPr>
              <a:t>✅ Resuelve los problemas específicos de logística</a:t>
            </a:r>
          </a:p>
          <a:p>
            <a:pPr marL="0" indent="0" algn="just">
              <a:buNone/>
            </a:pPr>
            <a:r>
              <a:rPr lang="es-MX" dirty="0">
                <a:solidFill>
                  <a:schemeClr val="tx1"/>
                </a:solidFill>
              </a:rPr>
              <a:t>✅ Utiliza tecnología de vanguardia</a:t>
            </a:r>
          </a:p>
          <a:p>
            <a:pPr marL="0" indent="0" algn="just">
              <a:buNone/>
            </a:pPr>
            <a:r>
              <a:rPr lang="es-MX" dirty="0">
                <a:solidFill>
                  <a:schemeClr val="tx1"/>
                </a:solidFill>
              </a:rPr>
              <a:t>✅ Ofrece un retorno de la inversión comprobable</a:t>
            </a:r>
          </a:p>
          <a:p>
            <a:pPr marL="0" indent="0" algn="just">
              <a:buNone/>
            </a:pPr>
            <a:r>
              <a:rPr lang="es-MX" dirty="0">
                <a:solidFill>
                  <a:schemeClr val="tx1"/>
                </a:solidFill>
              </a:rPr>
              <a:t>✅ Entrega valor desde los primeros días</a:t>
            </a:r>
          </a:p>
          <a:p>
            <a:pPr marL="0" indent="0" algn="just">
              <a:buNone/>
            </a:pPr>
            <a:r>
              <a:rPr lang="es-MX" b="1" dirty="0">
                <a:solidFill>
                  <a:schemeClr val="tx1"/>
                </a:solidFill>
              </a:rPr>
              <a:t>¿Cuáles son los siguientes pasos? Estamos listos para:</a:t>
            </a:r>
            <a:endParaRPr lang="es-MX" dirty="0">
              <a:solidFill>
                <a:schemeClr val="tx1"/>
              </a:solidFill>
            </a:endParaRPr>
          </a:p>
          <a:p>
            <a:pPr algn="just"/>
            <a:r>
              <a:rPr lang="es-MX" dirty="0">
                <a:solidFill>
                  <a:schemeClr val="tx1"/>
                </a:solidFill>
              </a:rPr>
              <a:t>Presentar primeras demostraciones beta.</a:t>
            </a:r>
          </a:p>
          <a:p>
            <a:pPr algn="just"/>
            <a:r>
              <a:rPr lang="es-MX" dirty="0">
                <a:solidFill>
                  <a:schemeClr val="tx1"/>
                </a:solidFill>
              </a:rPr>
              <a:t>Recibir el pago inicial del 40% y respectivamente el pago final.</a:t>
            </a:r>
          </a:p>
          <a:p>
            <a:pPr algn="just"/>
            <a:r>
              <a:rPr lang="es-MX" dirty="0">
                <a:solidFill>
                  <a:schemeClr val="tx1"/>
                </a:solidFill>
              </a:rPr>
              <a:t>Entrega inmediata del software y capacitación de uso al personal de nuestro cliente.</a:t>
            </a:r>
          </a:p>
          <a:p>
            <a:endParaRPr lang="es-MX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143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B90296-CFE0-401D-9CA3-32966EC4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C9B4EE-7611-4ED9-B356-7BDD377C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4F266A-F2F7-47CD-8BBC-E3777E982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D69C80-8919-4A32-B897-F2A21F940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427B072-CC5B-481B-9719-8CD4C5444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E134C76-7FB4-4BB7-9322-DD8A4B179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Snip Single Corner Rectangle 17">
            <a:extLst>
              <a:ext uri="{FF2B5EF4-FFF2-40B4-BE49-F238E27FC236}">
                <a16:creationId xmlns:a16="http://schemas.microsoft.com/office/drawing/2014/main" id="{C0C57804-4F33-4D85-AA3E-DA0F214BB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774419-9E2B-1F0D-D4E1-2E2547B9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9678988" cy="367347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just"/>
            <a:r>
              <a:rPr lang="en-US" sz="6000" b="1" dirty="0">
                <a:solidFill>
                  <a:schemeClr val="tx2"/>
                </a:solidFill>
              </a:rPr>
              <a:t>¡Gracias </a:t>
            </a:r>
            <a:r>
              <a:rPr lang="en-US" sz="6000" b="1" dirty="0" err="1">
                <a:solidFill>
                  <a:schemeClr val="tx2"/>
                </a:solidFill>
              </a:rPr>
              <a:t>por</a:t>
            </a:r>
            <a:r>
              <a:rPr lang="en-US" sz="6000" b="1" dirty="0">
                <a:solidFill>
                  <a:schemeClr val="tx2"/>
                </a:solidFill>
              </a:rPr>
              <a:t> </a:t>
            </a:r>
            <a:r>
              <a:rPr lang="en-US" sz="6000" b="1" dirty="0" err="1">
                <a:solidFill>
                  <a:schemeClr val="tx2"/>
                </a:solidFill>
              </a:rPr>
              <a:t>su</a:t>
            </a:r>
            <a:r>
              <a:rPr lang="en-US" sz="6000" b="1" dirty="0">
                <a:solidFill>
                  <a:schemeClr val="tx2"/>
                </a:solidFill>
              </a:rPr>
              <a:t> </a:t>
            </a:r>
            <a:r>
              <a:rPr lang="en-US" sz="6000" b="1" dirty="0" err="1">
                <a:solidFill>
                  <a:schemeClr val="tx2"/>
                </a:solidFill>
              </a:rPr>
              <a:t>atención</a:t>
            </a:r>
            <a:r>
              <a:rPr lang="en-US" sz="6000" b="1" dirty="0">
                <a:solidFill>
                  <a:schemeClr val="tx2"/>
                </a:solidFill>
              </a:rPr>
              <a:t>! Estamos para </a:t>
            </a:r>
            <a:r>
              <a:rPr lang="en-US" sz="6000" b="1" dirty="0" err="1">
                <a:solidFill>
                  <a:schemeClr val="tx2"/>
                </a:solidFill>
              </a:rPr>
              <a:t>servirles</a:t>
            </a:r>
            <a:r>
              <a:rPr lang="en-US" sz="6000" b="1" dirty="0">
                <a:solidFill>
                  <a:schemeClr val="tx2"/>
                </a:solidFill>
              </a:rPr>
              <a:t>.</a:t>
            </a:r>
            <a:endParaRPr lang="en-US" sz="6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198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TM02900771[[fn=Segmento]]</Template>
  <TotalTime>233</TotalTime>
  <Words>730</Words>
  <Application>Microsoft Office PowerPoint</Application>
  <PresentationFormat>Panorámica</PresentationFormat>
  <Paragraphs>116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Century Gothic</vt:lpstr>
      <vt:lpstr>quote-cjk-patch</vt:lpstr>
      <vt:lpstr>Wingdings 3</vt:lpstr>
      <vt:lpstr>Sector</vt:lpstr>
      <vt:lpstr>Plataforma de Gestión de Proyectos Estilo Kanban</vt:lpstr>
      <vt:lpstr>Equipo y Roles</vt:lpstr>
      <vt:lpstr>Entendiendo el Problema del Cliente </vt:lpstr>
      <vt:lpstr>Solución Propuesta</vt:lpstr>
      <vt:lpstr>Demostración del Sistema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Innovación Técnica</vt:lpstr>
      <vt:lpstr>Presupuesto Detallado</vt:lpstr>
      <vt:lpstr>Infraestructura y Hosting - $135,000 MXN (15%) </vt:lpstr>
      <vt:lpstr>Capacitación y Soporte - $135,000 MXN (15%) </vt:lpstr>
      <vt:lpstr>TOTAL DEL PROYECTO: $900,000 MXN</vt:lpstr>
      <vt:lpstr>Valor Agregado y Retorno de inversión</vt:lpstr>
      <vt:lpstr>Plan de Implementación</vt:lpstr>
      <vt:lpstr>Cierre y Siguientes Pasos</vt:lpstr>
      <vt:lpstr>¡Gracias por su atención! Estamos para servirles.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CRISTAL NAOMI GONZALEZ RUIZ</dc:creator>
  <cp:lastModifiedBy>CRISTAL NAOMI GONZALEZ RUIZ</cp:lastModifiedBy>
  <cp:revision>8</cp:revision>
  <dcterms:created xsi:type="dcterms:W3CDTF">2025-11-04T00:18:11Z</dcterms:created>
  <dcterms:modified xsi:type="dcterms:W3CDTF">2025-11-18T05:46:25Z</dcterms:modified>
</cp:coreProperties>
</file>